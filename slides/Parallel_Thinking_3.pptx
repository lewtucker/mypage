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486"/>
    <p:restoredTop sz="94610"/>
  </p:normalViewPr>
  <p:slideViewPr>
    <p:cSldViewPr snapToGrid="0" snapToObjects="1">
      <p:cViewPr>
        <p:scale>
          <a:sx n="163" d="100"/>
          <a:sy n="163" d="100"/>
        </p:scale>
        <p:origin x="144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6340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jpeg"/><Relationship Id="rId4" Type="http://schemas.openxmlformats.org/officeDocument/2006/relationships/image" Target="../media/image8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2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5143500"/>
          </a:xfrm>
          <a:prstGeom prst="rect">
            <a:avLst/>
          </a:prstGeom>
          <a:solidFill>
            <a:srgbClr val="E8E4D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82296" cy="5143500"/>
          </a:xfrm>
          <a:prstGeom prst="rect">
            <a:avLst/>
          </a:prstGeom>
          <a:solidFill>
            <a:srgbClr val="B81C3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64592" y="1325880"/>
            <a:ext cx="3749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B81C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PARALLEL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64592" y="2103120"/>
            <a:ext cx="3749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A18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THINKING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64592" y="2999232"/>
            <a:ext cx="3657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1985 Boston startup named Thinking Machines invented the architecture that led to modern day AI data centers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64592" y="3931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A18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Lew Tucker, Ph.D.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64592" y="4251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A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ZKM CM Symposium, March 2026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91458" y="777240"/>
            <a:ext cx="3474720" cy="3474720"/>
          </a:xfrm>
          <a:prstGeom prst="ellipse">
            <a:avLst/>
          </a:prstGeom>
          <a:ln w="25400">
            <a:solidFill>
              <a:srgbClr val="C0BC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120642" y="1106424"/>
            <a:ext cx="2816352" cy="2816352"/>
          </a:xfrm>
          <a:prstGeom prst="ellipse">
            <a:avLst/>
          </a:prstGeom>
          <a:solidFill>
            <a:srgbClr val="DEDAD4"/>
          </a:solidFill>
          <a:ln w="38100">
            <a:solidFill>
              <a:srgbClr val="B81C3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120642" y="1645920"/>
            <a:ext cx="281635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B81C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1985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5120642" y="2496312"/>
            <a:ext cx="28163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A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Today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120642" y="2898648"/>
            <a:ext cx="2816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A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Ideas that proved right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2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5143500"/>
          </a:xfrm>
          <a:prstGeom prst="rect">
            <a:avLst/>
          </a:prstGeom>
          <a:solidFill>
            <a:srgbClr val="B81C3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83464" y="201168"/>
            <a:ext cx="875995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1A18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Connection Machine: A Radical Bet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83464" y="658368"/>
            <a:ext cx="3840480" cy="1371600"/>
          </a:xfrm>
          <a:prstGeom prst="rect">
            <a:avLst/>
          </a:prstGeom>
          <a:solidFill>
            <a:srgbClr val="E8E4D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83464" y="658368"/>
            <a:ext cx="45720" cy="1371600"/>
          </a:xfrm>
          <a:prstGeom prst="rect">
            <a:avLst/>
          </a:prstGeom>
          <a:solidFill>
            <a:srgbClr val="B81C3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731520"/>
            <a:ext cx="3611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B81C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65,536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11480" y="1143000"/>
            <a:ext cx="3611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 processors, all working at once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408176"/>
            <a:ext cx="36118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A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simpler than a pocket calculator — power came from sheer numbers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3464" y="2093976"/>
            <a:ext cx="3840480" cy="1371600"/>
          </a:xfrm>
          <a:prstGeom prst="rect">
            <a:avLst/>
          </a:prstGeom>
          <a:solidFill>
            <a:srgbClr val="E8E4D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83464" y="2093976"/>
            <a:ext cx="45720" cy="1371600"/>
          </a:xfrm>
          <a:prstGeom prst="rect">
            <a:avLst/>
          </a:prstGeom>
          <a:solidFill>
            <a:srgbClr val="A0700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11480" y="2167128"/>
            <a:ext cx="3611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A0700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2,900×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11480" y="2578608"/>
            <a:ext cx="3611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than the best computers of the era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11480" y="2843784"/>
            <a:ext cx="36118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A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right problems — ones where you do the same thing to a lot of data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83464" y="3529584"/>
            <a:ext cx="3840480" cy="1371600"/>
          </a:xfrm>
          <a:prstGeom prst="rect">
            <a:avLst/>
          </a:prstGeom>
          <a:solidFill>
            <a:srgbClr val="E8E4D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83464" y="3529584"/>
            <a:ext cx="45720" cy="1371600"/>
          </a:xfrm>
          <a:prstGeom prst="rect">
            <a:avLst/>
          </a:prstGeom>
          <a:solidFill>
            <a:srgbClr val="6070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11480" y="3602736"/>
            <a:ext cx="3611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607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$5M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411480" y="4014216"/>
            <a:ext cx="3611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tag — bought by national labs and Wall Street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11480" y="4279392"/>
            <a:ext cx="36118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A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NSA, Sandia, Morgan Stanley, and MIT were early customers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51960" y="658368"/>
            <a:ext cx="4663440" cy="1051560"/>
          </a:xfrm>
          <a:prstGeom prst="rect">
            <a:avLst/>
          </a:prstGeom>
          <a:solidFill>
            <a:srgbClr val="E8E4D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251960" y="658368"/>
            <a:ext cx="54864" cy="1051560"/>
          </a:xfrm>
          <a:prstGeom prst="rect">
            <a:avLst/>
          </a:prstGeom>
          <a:solidFill>
            <a:srgbClr val="B81C3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389120" y="722376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A18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“Instead of making a single computer go faster, why not build thousands of simple ones and have them all work on the same problem at the same time?”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389120" y="1408176"/>
            <a:ext cx="4434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A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Danny Hillis, founder of Thinking Machines, age 26</a:t>
            </a:r>
            <a:endParaRPr lang="en-US" sz="1000" dirty="0"/>
          </a:p>
        </p:txBody>
      </p:sp>
      <p:pic>
        <p:nvPicPr>
          <p:cNvPr id="23" name="Image 0" descr="/Users/lewtucker/Documents/dev/TMC_Preso/media/CM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4722" y="1773936"/>
            <a:ext cx="3603635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2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5143500"/>
          </a:xfrm>
          <a:prstGeom prst="rect">
            <a:avLst/>
          </a:prstGeom>
          <a:solidFill>
            <a:srgbClr val="B81C3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83464" y="201168"/>
            <a:ext cx="875995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1A18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CM-2: Second Generation (1987)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83464" y="694944"/>
            <a:ext cx="411480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A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Retained the 65,536 processor count but added floating-point hardware — every 32 processors shared a Weitek FPU chip.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83464" y="1719072"/>
            <a:ext cx="411480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A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Dramatically improved scientific computing: physics simulations, fluid dynamics, and climate modeling became practical workloads.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83464" y="2743200"/>
            <a:ext cx="411480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A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Introduced the Data Vault — a parallel disk array streaming data at up to 1 GB/s, unprecedented for the era. First RAID system.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83464" y="3767328"/>
            <a:ext cx="411480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A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CM Fortran enabled scientific programmers to migrate existing codebases without learning an entirely new paradigm.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26280" y="658368"/>
            <a:ext cx="4434840" cy="4370832"/>
          </a:xfrm>
          <a:prstGeom prst="rect">
            <a:avLst/>
          </a:prstGeom>
          <a:solidFill>
            <a:srgbClr val="E8E4D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26280" y="704088"/>
            <a:ext cx="4434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CM-1 vs CM-2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17720" y="1005840"/>
          <a:ext cx="4160520" cy="16002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6A68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CF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6A68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CM-1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CF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81C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CM-2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CF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8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Processors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6A68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65,536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A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8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65,536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4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8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Float HW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6A68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4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8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Weitek FPU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A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8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6A68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A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8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4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8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6A68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*Lisp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4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8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*Lisp, C*, CMF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A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8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Disk I/O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6A68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A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8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DataVault 1GB/s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4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11" name="Image 0" descr="/Users/lewtucker/Documents/dev/TMC_Preso/media/CM2_with_DataVault.gif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41430" y="2695531"/>
            <a:ext cx="2765685" cy="226771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2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5143500"/>
          </a:xfrm>
          <a:prstGeom prst="rect">
            <a:avLst/>
          </a:prstGeom>
          <a:solidFill>
            <a:srgbClr val="B81C3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83464" y="201168"/>
            <a:ext cx="875995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1A18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Ways to Speed Up Computation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83464" y="658368"/>
            <a:ext cx="2103120" cy="4206240"/>
          </a:xfrm>
          <a:prstGeom prst="rect">
            <a:avLst/>
          </a:prstGeom>
          <a:solidFill>
            <a:srgbClr val="E8E4D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83464" y="658368"/>
            <a:ext cx="2103120" cy="45720"/>
          </a:xfrm>
          <a:prstGeom prst="rect">
            <a:avLst/>
          </a:prstGeom>
          <a:solidFill>
            <a:srgbClr val="6070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74904" y="768096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07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Serial Processing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74904" y="128016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CPU faster through exotic materials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74904" y="1664208"/>
            <a:ext cx="1920240" cy="9144"/>
          </a:xfrm>
          <a:prstGeom prst="rect">
            <a:avLst/>
          </a:prstGeom>
          <a:solidFill>
            <a:srgbClr val="C0BC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74904" y="1737360"/>
            <a:ext cx="1920240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A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Supercomputers used exotic materials and vector processing to speed up calculation.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83464" y="4517136"/>
            <a:ext cx="2103120" cy="347472"/>
          </a:xfrm>
          <a:prstGeom prst="rect">
            <a:avLst/>
          </a:prstGeom>
          <a:solidFill>
            <a:srgbClr val="DEDA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83464" y="4517136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Supercomputing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468880" y="658368"/>
            <a:ext cx="2103120" cy="4206240"/>
          </a:xfrm>
          <a:prstGeom prst="rect">
            <a:avLst/>
          </a:prstGeom>
          <a:solidFill>
            <a:srgbClr val="E8E4D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468880" y="658368"/>
            <a:ext cx="2103120" cy="45720"/>
          </a:xfrm>
          <a:prstGeom prst="rect">
            <a:avLst/>
          </a:prstGeom>
          <a:solidFill>
            <a:srgbClr val="8A12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560320" y="768096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A12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560320" y="128016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Instruction, Multiple Data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560320" y="1664208"/>
            <a:ext cx="1920240" cy="9144"/>
          </a:xfrm>
          <a:prstGeom prst="rect">
            <a:avLst/>
          </a:prstGeom>
          <a:solidFill>
            <a:srgbClr val="C0BC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560320" y="1737360"/>
            <a:ext cx="1920240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A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multiple streams or arrays of data at the same time in parallel.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468880" y="4517136"/>
            <a:ext cx="2103120" cy="347472"/>
          </a:xfrm>
          <a:prstGeom prst="rect">
            <a:avLst/>
          </a:prstGeom>
          <a:solidFill>
            <a:srgbClr val="DEDA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468880" y="4517136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A12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CM-1 &amp; CM-2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654296" y="658368"/>
            <a:ext cx="2103120" cy="4206240"/>
          </a:xfrm>
          <a:prstGeom prst="rect">
            <a:avLst/>
          </a:prstGeom>
          <a:solidFill>
            <a:srgbClr val="E8E4D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654296" y="658368"/>
            <a:ext cx="2103120" cy="45720"/>
          </a:xfrm>
          <a:prstGeom prst="rect">
            <a:avLst/>
          </a:prstGeom>
          <a:solidFill>
            <a:srgbClr val="B81C3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745736" y="768096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B81C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MIMD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745736" y="128016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Instructions, Multiple Data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45736" y="1664208"/>
            <a:ext cx="1920240" cy="9144"/>
          </a:xfrm>
          <a:prstGeom prst="rect">
            <a:avLst/>
          </a:prstGeom>
          <a:solidFill>
            <a:srgbClr val="C0BC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745736" y="1737360"/>
            <a:ext cx="1920240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A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job processing by multiple CPUs, tightly connected through messaging.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654296" y="4517136"/>
            <a:ext cx="2103120" cy="347472"/>
          </a:xfrm>
          <a:prstGeom prst="rect">
            <a:avLst/>
          </a:prstGeom>
          <a:solidFill>
            <a:srgbClr val="DEDA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654296" y="4517136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B81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CM-5, SIMD/MIMD GPUs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839712" y="658368"/>
            <a:ext cx="2103120" cy="4206240"/>
          </a:xfrm>
          <a:prstGeom prst="rect">
            <a:avLst/>
          </a:prstGeom>
          <a:solidFill>
            <a:srgbClr val="E8E4D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6839712" y="658368"/>
            <a:ext cx="2103120" cy="45720"/>
          </a:xfrm>
          <a:prstGeom prst="rect">
            <a:avLst/>
          </a:prstGeom>
          <a:solidFill>
            <a:srgbClr val="2A6B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931152" y="768096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A6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Cluster Computing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931152" y="128016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Racks of servers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931152" y="1664208"/>
            <a:ext cx="1920240" cy="9144"/>
          </a:xfrm>
          <a:prstGeom prst="rect">
            <a:avLst/>
          </a:prstGeom>
          <a:solidFill>
            <a:srgbClr val="C0BC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931152" y="1737360"/>
            <a:ext cx="1920240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A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Thousands of servers with high speed networks in large data centers.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839712" y="4517136"/>
            <a:ext cx="2103120" cy="347472"/>
          </a:xfrm>
          <a:prstGeom prst="rect">
            <a:avLst/>
          </a:prstGeom>
          <a:solidFill>
            <a:srgbClr val="DEDA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839712" y="4517136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A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Datacenters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2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5143500"/>
          </a:xfrm>
          <a:prstGeom prst="rect">
            <a:avLst/>
          </a:prstGeom>
          <a:solidFill>
            <a:srgbClr val="B81C3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83464" y="201168"/>
            <a:ext cx="875995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1A18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CM-5: Learning to Be More Flexible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83464" y="658368"/>
          <a:ext cx="4983480" cy="4389120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15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CF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6A68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CM-1 &amp; CM-2 (1985–87)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CF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B81C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CM-5 (1993)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CF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6A68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Architecture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A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8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65,536 tiny 1-bit processors — all marching in lockstep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A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B81C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Thousands of full SPARC processors — each fully independent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A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6A68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4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8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Pure SIMD — one command, everyone obeys simultaneously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4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B81C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MIMD — each processor can run completely different code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4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6A68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Flexibility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A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8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— struggles with branching logic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A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B81C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— handles complex, varied workloads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A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6A68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Still ran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4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8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 Lisp, C* (custom languages)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4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B81C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the same data-parallel programs from CM-1/2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4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6A68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Analogy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A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8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orchestra — one conductor, everyone plays the same beat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A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B81C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jazz ensemble — each musician improvises, but in harmony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A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5" name="Image 0" descr="/Users/lewtucker/Documents/dev/TMC_Preso/media/CM5_museum_exhibit.jp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76672" y="658368"/>
            <a:ext cx="3566160" cy="1938528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5376672" y="2670048"/>
            <a:ext cx="3566160" cy="1078992"/>
          </a:xfrm>
          <a:prstGeom prst="rect">
            <a:avLst/>
          </a:prstGeom>
          <a:solidFill>
            <a:srgbClr val="E8E4D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3"/>
          <p:cNvSpPr/>
          <p:nvPr/>
        </p:nvSpPr>
        <p:spPr>
          <a:xfrm>
            <a:off x="5376672" y="2670048"/>
            <a:ext cx="3566160" cy="45720"/>
          </a:xfrm>
          <a:prstGeom prst="rect">
            <a:avLst/>
          </a:prstGeom>
          <a:solidFill>
            <a:srgbClr val="A0700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5468112" y="276148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0700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 Matters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5468112" y="3063240"/>
            <a:ext cx="33832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CM-5 proved you could build a machine that was both flexible and massively parallel — as long as the programming model hid the complexity from the programmer.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5376672" y="3822192"/>
            <a:ext cx="3566160" cy="969264"/>
          </a:xfrm>
          <a:prstGeom prst="rect">
            <a:avLst/>
          </a:prstGeom>
          <a:solidFill>
            <a:srgbClr val="E8E4D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5376672" y="3822192"/>
            <a:ext cx="3566160" cy="45720"/>
          </a:xfrm>
          <a:prstGeom prst="rect">
            <a:avLst/>
          </a:prstGeom>
          <a:solidFill>
            <a:srgbClr val="B81C3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5468112" y="3913632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81C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Lasting Blueprint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5468112" y="4206240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AI chips do exactly this: independent processor clusters (MIMD) across a chip, each running in lockstep (SIMD) on its data. CM-5 drew this blueprint in 1993.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2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5143500"/>
          </a:xfrm>
          <a:prstGeom prst="rect">
            <a:avLst/>
          </a:prstGeom>
          <a:solidFill>
            <a:srgbClr val="B81C3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83464" y="201168"/>
            <a:ext cx="875995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1A18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Programming Languages and Libraries Hide Complexity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83464" y="676656"/>
            <a:ext cx="4206240" cy="1261872"/>
          </a:xfrm>
          <a:prstGeom prst="rect">
            <a:avLst/>
          </a:prstGeom>
          <a:solidFill>
            <a:srgbClr val="E8E4D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83464" y="676656"/>
            <a:ext cx="45720" cy="1261872"/>
          </a:xfrm>
          <a:prstGeom prst="rect">
            <a:avLst/>
          </a:prstGeom>
          <a:solidFill>
            <a:srgbClr val="8A12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02336" y="749808"/>
            <a:ext cx="3977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A12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CM Lisp &amp; *Lisp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02336" y="1060704"/>
            <a:ext cx="39776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languages to express parallelism naturally — write an operation on a data structure and the runtime automatically distributes it across all 65,536 processors. The programmer never specifies how.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83464" y="2002536"/>
            <a:ext cx="4206240" cy="1261872"/>
          </a:xfrm>
          <a:prstGeom prst="rect">
            <a:avLst/>
          </a:prstGeom>
          <a:solidFill>
            <a:srgbClr val="E8E4D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83464" y="2002536"/>
            <a:ext cx="45720" cy="1261872"/>
          </a:xfrm>
          <a:prstGeom prst="rect">
            <a:avLst/>
          </a:prstGeom>
          <a:solidFill>
            <a:srgbClr val="6070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02336" y="2075688"/>
            <a:ext cx="3977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07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C* &amp; CM Fortran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02336" y="2386584"/>
            <a:ext cx="39776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C* extended C; CM Fortran extended Fortran — scientists kept their familiar syntax while automatically running on thousands of processors.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83464" y="3328416"/>
            <a:ext cx="4206240" cy="1261872"/>
          </a:xfrm>
          <a:prstGeom prst="rect">
            <a:avLst/>
          </a:prstGeom>
          <a:solidFill>
            <a:srgbClr val="E8E4D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83464" y="3328416"/>
            <a:ext cx="45720" cy="1261872"/>
          </a:xfrm>
          <a:prstGeom prst="rect">
            <a:avLst/>
          </a:prstGeom>
          <a:solidFill>
            <a:srgbClr val="2A6B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02336" y="3401568"/>
            <a:ext cx="3977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6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MPI &amp; CMMD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02336" y="3712464"/>
            <a:ext cx="39776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CMMD (Connection Machine Message Passing) was TMC’s inter-processor communication library — a direct architectural precursor to MPI, the standard still running on every supercomputer in the world today.</a:t>
            </a:r>
            <a:endParaRPr lang="en-US" sz="1100" dirty="0"/>
          </a:p>
        </p:txBody>
      </p:sp>
      <p:pic>
        <p:nvPicPr>
          <p:cNvPr id="16" name="Image 0" descr="/Users/lewtucker/Documents/dev/TMC_Preso/media/SIMD_MIMD_GPU_diagram_dark.jp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654298" y="1094319"/>
            <a:ext cx="4297680" cy="2954861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283464" y="4636008"/>
            <a:ext cx="8577072" cy="365760"/>
          </a:xfrm>
          <a:prstGeom prst="rect">
            <a:avLst/>
          </a:prstGeom>
          <a:solidFill>
            <a:srgbClr val="D4CFC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283464" y="4636008"/>
            <a:ext cx="45720" cy="365760"/>
          </a:xfrm>
          <a:prstGeom prst="rect">
            <a:avLst/>
          </a:prstGeom>
          <a:solidFill>
            <a:srgbClr val="B81C3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384048" y="4636008"/>
            <a:ext cx="83941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B81C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CM’s key insight: hide the complexity of massive parallelism behind a simple model — exactly what GPU computing rediscovered 20 years later.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2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5143500"/>
          </a:xfrm>
          <a:prstGeom prst="rect">
            <a:avLst/>
          </a:prstGeom>
          <a:solidFill>
            <a:srgbClr val="B81C3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83464" y="201168"/>
            <a:ext cx="875995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1A18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Algorithms Invented on the Connection Machine</a:t>
            </a:r>
            <a:endParaRPr lang="en-US" sz="2200" dirty="0"/>
          </a:p>
        </p:txBody>
      </p:sp>
      <p:pic>
        <p:nvPicPr>
          <p:cNvPr id="4" name="Image 0" descr="/Users/lewtucker/Documents/dev/TMC_Preso/media/network_topology_hypercube_fattree.jp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3464" y="658368"/>
            <a:ext cx="1371600" cy="822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737360" y="658368"/>
            <a:ext cx="7132320" cy="822960"/>
          </a:xfrm>
          <a:prstGeom prst="rect">
            <a:avLst/>
          </a:prstGeom>
          <a:solidFill>
            <a:srgbClr val="E8E4D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1847088" y="658368"/>
            <a:ext cx="69311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A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CM’s hypercube network alongside the fat-tree topology that replaced it — both invented to move data between thousands of processors simultaneously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283464" y="1572768"/>
            <a:ext cx="4297680" cy="1847088"/>
          </a:xfrm>
          <a:prstGeom prst="rect">
            <a:avLst/>
          </a:prstGeom>
          <a:solidFill>
            <a:srgbClr val="E8E4D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283464" y="1572768"/>
            <a:ext cx="45720" cy="1847088"/>
          </a:xfrm>
          <a:prstGeom prst="rect">
            <a:avLst/>
          </a:prstGeom>
          <a:solidFill>
            <a:srgbClr val="B81C3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393192" y="161848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81C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Parallel Reduction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393192" y="1920240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A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Add up values across all 65,536 processors in just 16 steps — by pairing neighbors, then pairs of pairs, up a tree. Not 65,536 steps. Sixteen.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74904" y="2560320"/>
            <a:ext cx="4133088" cy="9144"/>
          </a:xfrm>
          <a:prstGeom prst="rect">
            <a:avLst/>
          </a:prstGeom>
          <a:solidFill>
            <a:srgbClr val="C0BC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393192" y="2596896"/>
            <a:ext cx="4114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Now: MapReduce, used at Google over thousands of servers for search and GPUs for AI training.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663440" y="1572768"/>
            <a:ext cx="4297680" cy="1847088"/>
          </a:xfrm>
          <a:prstGeom prst="rect">
            <a:avLst/>
          </a:prstGeom>
          <a:solidFill>
            <a:srgbClr val="E8E4D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4663440" y="1572768"/>
            <a:ext cx="45720" cy="1847088"/>
          </a:xfrm>
          <a:prstGeom prst="rect">
            <a:avLst/>
          </a:prstGeom>
          <a:solidFill>
            <a:srgbClr val="2A6B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4773168" y="161848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A6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Prefix Scan (Hillis-Steele, 1986)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773168" y="1920240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A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A seemingly impossible task — running totals across millions of entries in parallel. Hillis &amp; Steele proved it could be done in a fraction of the expected time.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754880" y="2560320"/>
            <a:ext cx="4133088" cy="9144"/>
          </a:xfrm>
          <a:prstGeom prst="rect">
            <a:avLst/>
          </a:prstGeom>
          <a:solidFill>
            <a:srgbClr val="C0BC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4773168" y="2596896"/>
            <a:ext cx="4114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Now: Used in sorting, memory allocation, compressing data, and building search indexes. Runs billions of times per second across the internet.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283464" y="3502152"/>
            <a:ext cx="4297680" cy="1847088"/>
          </a:xfrm>
          <a:prstGeom prst="rect">
            <a:avLst/>
          </a:prstGeom>
          <a:solidFill>
            <a:srgbClr val="E8E4D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283464" y="3502152"/>
            <a:ext cx="45720" cy="1847088"/>
          </a:xfrm>
          <a:prstGeom prst="rect">
            <a:avLst/>
          </a:prstGeom>
          <a:solidFill>
            <a:srgbClr val="A0700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393192" y="354787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0700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Gather &amp; Scatter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393192" y="3849624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A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The CM’s wiring let any processor send data directly to any other — like a telephone exchange built into the hardware.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374904" y="4489704"/>
            <a:ext cx="4133088" cy="9144"/>
          </a:xfrm>
          <a:prstGeom prst="rect">
            <a:avLst/>
          </a:prstGeom>
          <a:solidFill>
            <a:srgbClr val="C0BC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393192" y="4526280"/>
            <a:ext cx="4114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Now: The single biggest performance consideration when programming GPUs. How you access memory still dominates speed, exactly as CM engineers found in 1987.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663440" y="3502152"/>
            <a:ext cx="4297680" cy="1847088"/>
          </a:xfrm>
          <a:prstGeom prst="rect">
            <a:avLst/>
          </a:prstGeom>
          <a:solidFill>
            <a:srgbClr val="E8E4D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4663440" y="3502152"/>
            <a:ext cx="45720" cy="1847088"/>
          </a:xfrm>
          <a:prstGeom prst="rect">
            <a:avLst/>
          </a:prstGeom>
          <a:solidFill>
            <a:srgbClr val="6070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4773168" y="354787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07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Segmented Operations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4773168" y="3849624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A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Apply different operations to different sections of data simultaneously — like having 65,536 processors sort 100 different lists all at the same time.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754880" y="4489704"/>
            <a:ext cx="4133088" cy="9144"/>
          </a:xfrm>
          <a:prstGeom prst="rect">
            <a:avLst/>
          </a:prstGeom>
          <a:solidFill>
            <a:srgbClr val="C0BC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4773168" y="4526280"/>
            <a:ext cx="4114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Now: The backbone of how GPUs process neural network layers and the “attention” mechanism at the heart of AI language models like GPT.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2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5143500"/>
          </a:xfrm>
          <a:prstGeom prst="rect">
            <a:avLst/>
          </a:prstGeom>
          <a:solidFill>
            <a:srgbClr val="B81C3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83464" y="201168"/>
            <a:ext cx="875995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1A18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Computer Vision on the CM-2</a:t>
            </a:r>
            <a:endParaRPr lang="en-US" sz="2200" dirty="0"/>
          </a:p>
        </p:txBody>
      </p:sp>
      <p:pic>
        <p:nvPicPr>
          <p:cNvPr id="4" name="Image 0" descr="/Users/lewtucker/Documents/dev/TMC_Preso/media/Training.jpe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96915" y="814498"/>
            <a:ext cx="4859499" cy="360543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17336" y="1169233"/>
            <a:ext cx="2834640" cy="3605434"/>
          </a:xfrm>
          <a:prstGeom prst="rect">
            <a:avLst/>
          </a:prstGeom>
          <a:solidFill>
            <a:srgbClr val="E8E4D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6080760" y="658368"/>
            <a:ext cx="2834640" cy="36576"/>
          </a:xfrm>
          <a:prstGeom prst="rect">
            <a:avLst/>
          </a:prstGeom>
          <a:solidFill>
            <a:srgbClr val="8A12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172200" y="749808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B81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172200" y="1060704"/>
            <a:ext cx="2651760" cy="18288"/>
          </a:xfrm>
          <a:prstGeom prst="rect">
            <a:avLst/>
          </a:prstGeom>
          <a:solidFill>
            <a:srgbClr val="8A12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6208776" y="1314038"/>
            <a:ext cx="2651760" cy="19715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all pixels in parallel, the Connection machine uses convolution to find edges and turns edges into line segments.  These lines form the features used to identify the object in a scene.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2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5143500"/>
          </a:xfrm>
          <a:prstGeom prst="rect">
            <a:avLst/>
          </a:prstGeom>
          <a:solidFill>
            <a:srgbClr val="B81C3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83464" y="201168"/>
            <a:ext cx="875995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1A18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Computer Vision on the CM-2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32588" y="667512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B81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SCENE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32588" y="950976"/>
            <a:ext cx="2606040" cy="18288"/>
          </a:xfrm>
          <a:prstGeom prst="rect">
            <a:avLst/>
          </a:prstGeom>
          <a:solidFill>
            <a:srgbClr val="8A12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32588" y="1005840"/>
            <a:ext cx="2606040" cy="3474720"/>
          </a:xfrm>
          <a:prstGeom prst="rect">
            <a:avLst/>
          </a:prstGeom>
          <a:solidFill>
            <a:srgbClr val="E8E4D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/Users/lewtucker/Documents/dev/TMC_Preso/media/Test.jpe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2378" y="1204377"/>
            <a:ext cx="2308234" cy="307764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875788" y="2542032"/>
            <a:ext cx="2560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B81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3268980" y="667512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B81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MATCHING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268980" y="950976"/>
            <a:ext cx="2606040" cy="18288"/>
          </a:xfrm>
          <a:prstGeom prst="rect">
            <a:avLst/>
          </a:prstGeom>
          <a:solidFill>
            <a:srgbClr val="8A12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3268980" y="1005840"/>
            <a:ext cx="2606040" cy="3474720"/>
          </a:xfrm>
          <a:prstGeom prst="rect">
            <a:avLst/>
          </a:prstGeom>
          <a:solidFill>
            <a:srgbClr val="E8E4D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/Users/lewtucker/Documents/dev/TMC_Preso/media/Thinking.jpeg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382653" y="1157404"/>
            <a:ext cx="2378693" cy="317159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012180" y="2542032"/>
            <a:ext cx="2560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B81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Text 10"/>
          <p:cNvSpPr/>
          <p:nvPr/>
        </p:nvSpPr>
        <p:spPr>
          <a:xfrm>
            <a:off x="6405372" y="667512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B81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OBJECTS FOUND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6405372" y="950976"/>
            <a:ext cx="2606040" cy="18288"/>
          </a:xfrm>
          <a:prstGeom prst="rect">
            <a:avLst/>
          </a:prstGeom>
          <a:solidFill>
            <a:srgbClr val="8A12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6405372" y="1005840"/>
            <a:ext cx="2606040" cy="3474720"/>
          </a:xfrm>
          <a:prstGeom prst="rect">
            <a:avLst/>
          </a:prstGeom>
          <a:solidFill>
            <a:srgbClr val="E8E4D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2" descr="/Users/lewtucker/Documents/dev/TMC_Preso/media/Objects_Found.jpeg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462208" y="1152832"/>
            <a:ext cx="2492367" cy="332315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2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5143500"/>
          </a:xfrm>
          <a:prstGeom prst="rect">
            <a:avLst/>
          </a:prstGeom>
          <a:solidFill>
            <a:srgbClr val="B81C3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83464" y="201168"/>
            <a:ext cx="875995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1A18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Thinking in Parallel</a:t>
            </a:r>
            <a:endParaRPr lang="en-US" sz="2200" dirty="0"/>
          </a:p>
        </p:txBody>
      </p:sp>
      <p:pic>
        <p:nvPicPr>
          <p:cNvPr id="4" name="Image 0" descr="/Users/lewtucker/Documents/dev/TMC_Preso/media/Parallel_Algorithm.jpe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83464" y="658368"/>
            <a:ext cx="548640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89320" y="658368"/>
            <a:ext cx="2926080" cy="4206240"/>
          </a:xfrm>
          <a:prstGeom prst="rect">
            <a:avLst/>
          </a:prstGeom>
          <a:solidFill>
            <a:srgbClr val="E8E4D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5989320" y="658368"/>
            <a:ext cx="36576" cy="4206240"/>
          </a:xfrm>
          <a:prstGeom prst="rect">
            <a:avLst/>
          </a:prstGeom>
          <a:solidFill>
            <a:srgbClr val="B81C3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6126480" y="1005840"/>
            <a:ext cx="2651760" cy="36576"/>
          </a:xfrm>
          <a:prstGeom prst="rect">
            <a:avLst/>
          </a:prstGeom>
          <a:solidFill>
            <a:srgbClr val="B81C3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6126480" y="1115568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07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“Evidence is collected and hypotheses generated all in parallel.”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144768" y="2207901"/>
            <a:ext cx="2651760" cy="179552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 of lines found in the image generate millions of hypotheses which together accumulate evidence for the presence of different objects in the scene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2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5143500"/>
          </a:xfrm>
          <a:prstGeom prst="rect">
            <a:avLst/>
          </a:prstGeom>
          <a:solidFill>
            <a:srgbClr val="B81C3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83464" y="201168"/>
            <a:ext cx="875995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1A18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Explosion of Computing Power</a:t>
            </a:r>
            <a:endParaRPr lang="en-US" sz="2200" dirty="0"/>
          </a:p>
        </p:txBody>
      </p:sp>
      <p:pic>
        <p:nvPicPr>
          <p:cNvPr id="4" name="Image 0" descr="/Users/lewtucker/Documents/dev/TMC_Preso/media/processor_power_growth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83464" y="658368"/>
            <a:ext cx="8577072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83464" y="4617720"/>
            <a:ext cx="85770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A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performance roughly doubled every 2 years (Moore’s Law). GPUs, designed for parallel graphics, turned out to be ideal for AI — and accelerated far faster.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2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5143500"/>
          </a:xfrm>
          <a:prstGeom prst="rect">
            <a:avLst/>
          </a:prstGeom>
          <a:solidFill>
            <a:srgbClr val="B81C3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83464" y="201168"/>
            <a:ext cx="875995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1A18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HyperScale Data Centers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83464" y="713232"/>
            <a:ext cx="4846320" cy="932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The internet drove computing to a scale no single company had imagined — billions of users, petabytes of data.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46888" y="1280160"/>
            <a:ext cx="4846320" cy="932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The response: entire data centers, measured in Megawatts of power consumed,  built to run a single application — google search, video, social media.</a:t>
            </a:r>
          </a:p>
          <a:p>
            <a:pPr marL="0" indent="0">
              <a:buNone/>
            </a:pPr>
            <a:endParaRPr lang="en-US" sz="1400" dirty="0">
              <a:solidFill>
                <a:srgbClr val="1A1820"/>
              </a:solidFill>
              <a:latin typeface="Calibri" pitchFamily="34" charset="0"/>
              <a:cs typeface="Calibri" pitchFamily="34" charset="-120"/>
            </a:endParaRPr>
          </a:p>
          <a:p>
            <a:pPr marL="0" indent="0">
              <a:buNone/>
            </a:pP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94480" y="3004508"/>
            <a:ext cx="4846320" cy="14616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dirty="0">
                <a:solidFill>
                  <a:srgbClr val="1A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AI made possible by 3 things</a:t>
            </a:r>
          </a:p>
          <a:p>
            <a:endParaRPr lang="en-US" sz="1000" dirty="0">
              <a:solidFill>
                <a:srgbClr val="1A18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400" dirty="0">
                <a:solidFill>
                  <a:srgbClr val="1A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→ </a:t>
            </a:r>
            <a:r>
              <a:rPr lang="en-US" sz="1400" dirty="0">
                <a:solidFill>
                  <a:srgbClr val="1A1820"/>
                </a:solidFill>
                <a:latin typeface="Calibri" pitchFamily="34" charset="0"/>
                <a:cs typeface="Calibri" pitchFamily="34" charset="-120"/>
              </a:rPr>
              <a:t>Hyperscale Computing Power</a:t>
            </a:r>
          </a:p>
          <a:p>
            <a:r>
              <a:rPr lang="en-US" sz="1400" dirty="0">
                <a:solidFill>
                  <a:srgbClr val="1A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→ Massive neural networks with billions of parameters</a:t>
            </a:r>
            <a:endParaRPr lang="en-US" sz="1400" dirty="0">
              <a:solidFill>
                <a:srgbClr val="1A1820"/>
              </a:solidFill>
              <a:latin typeface="Calibri" pitchFamily="34" charset="0"/>
              <a:cs typeface="Calibri" pitchFamily="34" charset="-120"/>
            </a:endParaRPr>
          </a:p>
          <a:p>
            <a:r>
              <a:rPr lang="en-US" sz="1400" dirty="0">
                <a:solidFill>
                  <a:srgbClr val="1A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→ Huge training sets by crawling the internet</a:t>
            </a:r>
            <a:endParaRPr lang="en-US" sz="1400" dirty="0">
              <a:solidFill>
                <a:srgbClr val="1A1820"/>
              </a:solidFill>
              <a:latin typeface="Calibri" pitchFamily="34" charset="0"/>
              <a:cs typeface="Calibri" pitchFamily="34" charset="-120"/>
            </a:endParaRPr>
          </a:p>
          <a:p>
            <a:endParaRPr lang="en-US" sz="1400" dirty="0">
              <a:solidFill>
                <a:srgbClr val="1A1820"/>
              </a:solidFill>
              <a:latin typeface="Calibri" pitchFamily="34" charset="0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1A1820"/>
                </a:solidFill>
                <a:latin typeface="Calibri" pitchFamily="34" charset="0"/>
                <a:cs typeface="Calibri" pitchFamily="34" charset="-120"/>
              </a:rPr>
              <a:t>     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18127" y="2071820"/>
            <a:ext cx="4846320" cy="932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 hyperscale data center is, in concept, what TMC imagined: a single massively parallel machine</a:t>
            </a:r>
            <a:endParaRPr lang="en-US" sz="1400" dirty="0"/>
          </a:p>
        </p:txBody>
      </p:sp>
      <p:pic>
        <p:nvPicPr>
          <p:cNvPr id="8" name="Image 0" descr="/Users/lewtucker/Documents/dev/TMC_Preso/media/hyperscale_datacenter_aerial.jp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57800" y="658368"/>
            <a:ext cx="3657600" cy="42062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257800" y="48006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A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Aerial view of a hyperscale data center campus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2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5143500"/>
          </a:xfrm>
          <a:prstGeom prst="rect">
            <a:avLst/>
          </a:prstGeom>
          <a:solidFill>
            <a:srgbClr val="B81C3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83464" y="201168"/>
            <a:ext cx="875995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1A18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GPUs: A Connection Machine on a Chip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83464" y="658368"/>
            <a:ext cx="4754880" cy="960120"/>
          </a:xfrm>
          <a:prstGeom prst="rect">
            <a:avLst/>
          </a:prstGeom>
          <a:solidFill>
            <a:srgbClr val="B81C3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02336" y="658368"/>
            <a:ext cx="453542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“The Connection Machine’s key insight — that you can hide the complexity of massive parallelism behind a data-parallel programming model — is exactly what modern GPU programming rediscovered 20 years later.”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83464" y="1682496"/>
            <a:ext cx="4754880" cy="1234440"/>
          </a:xfrm>
          <a:prstGeom prst="rect">
            <a:avLst/>
          </a:prstGeom>
          <a:solidFill>
            <a:srgbClr val="E8E4D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02336" y="1737360"/>
            <a:ext cx="4535424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modern Nvidia GPU contains up to 16,896 processing cores — all working on the same problem simultaneously.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Originally designed as SIMD array processors for gaming consoles. Lately used in AI for ultra-fast matrix multiplication.</a:t>
            </a:r>
            <a:endParaRPr lang="en-US" sz="1200" dirty="0"/>
          </a:p>
        </p:txBody>
      </p:sp>
      <p:pic>
        <p:nvPicPr>
          <p:cNvPr id="8" name="Image 0" descr="/Users/lewtucker/Documents/dev/TMC_Preso/media/Nvidia Supercomputer.jp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9471" y="2980944"/>
            <a:ext cx="4296266" cy="197053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166360" y="65836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8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Then and Now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66360" y="950976"/>
          <a:ext cx="3749040" cy="3337560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562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CF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6A68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Connection Machine (1985)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CF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B81C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Nvidia H100 GPU (2023)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CF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62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6A68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Processors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A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8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65,536 (1-bit each)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A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B81C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16,896 (full 32-bit)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A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62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6A68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Programming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4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8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 for arrays; runs on 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4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B81C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 for one; GPU runs on 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4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62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6A68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A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8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Weather, genomics, finance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A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B81C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training, graphics, science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A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62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6A68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Power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4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8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~200 kW (fills a room)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4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B81C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700 W (shoebox)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4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62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6A68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A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8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 million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A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B81C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~$30,000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C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A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2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5143500"/>
          </a:xfrm>
          <a:prstGeom prst="rect">
            <a:avLst/>
          </a:prstGeom>
          <a:solidFill>
            <a:srgbClr val="B81C3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83464" y="201168"/>
            <a:ext cx="875995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1A18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Today’s AI Datacenter Computers are at Massive Scale</a:t>
            </a:r>
            <a:endParaRPr lang="en-US" sz="2200" dirty="0"/>
          </a:p>
        </p:txBody>
      </p:sp>
      <p:pic>
        <p:nvPicPr>
          <p:cNvPr id="4" name="Image 0" descr="/Users/lewtucker/Documents/dev/TMC_Preso/media/Nvidia_Rubin_ra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" y="658368"/>
            <a:ext cx="8577072" cy="15087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83464" y="658368"/>
            <a:ext cx="8577072" cy="1508760"/>
          </a:xfrm>
          <a:prstGeom prst="rect">
            <a:avLst/>
          </a:prstGeom>
          <a:solidFill>
            <a:srgbClr val="1A1820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411480" y="1737360"/>
            <a:ext cx="8321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CM’s 1985 vision: thousands of processors + fast connections = one powerful parallel computer. That vision now runs at planetary scale.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83464" y="2212848"/>
            <a:ext cx="2798064" cy="2633472"/>
          </a:xfrm>
          <a:prstGeom prst="rect">
            <a:avLst/>
          </a:prstGeom>
          <a:solidFill>
            <a:srgbClr val="E8E4D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283464" y="2212848"/>
            <a:ext cx="2798064" cy="45720"/>
          </a:xfrm>
          <a:prstGeom prst="rect">
            <a:avLst/>
          </a:prstGeom>
          <a:solidFill>
            <a:srgbClr val="B81C3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374904" y="2304288"/>
            <a:ext cx="26151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18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GPU-based Nodes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74904" y="2724912"/>
            <a:ext cx="2615184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A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AI server holds 8 H100/B200 GPUs — up to 1.5 TB of memory and ~72 petaflops. GPUs connect via NVSwitch at 900 GB/s. Nvidia’s Rubin nodes (2026) projected to reach ~400 petaflops per node.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283464" y="4279392"/>
            <a:ext cx="2798064" cy="566928"/>
          </a:xfrm>
          <a:prstGeom prst="rect">
            <a:avLst/>
          </a:prstGeom>
          <a:solidFill>
            <a:srgbClr val="DEDA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283464" y="4279392"/>
            <a:ext cx="27980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81C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GPUs · 1.5 TB · 72 PF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283464" y="4608576"/>
            <a:ext cx="27980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A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node today → ~400 PF with Rubin (2026)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3172968" y="2212848"/>
            <a:ext cx="2798064" cy="2633472"/>
          </a:xfrm>
          <a:prstGeom prst="rect">
            <a:avLst/>
          </a:prstGeom>
          <a:solidFill>
            <a:srgbClr val="E8E4D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3172968" y="2212848"/>
            <a:ext cx="2798064" cy="45720"/>
          </a:xfrm>
          <a:prstGeom prst="rect">
            <a:avLst/>
          </a:prstGeom>
          <a:solidFill>
            <a:srgbClr val="2A6B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3264408" y="2304288"/>
            <a:ext cx="26151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18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High Speed Network Interconnect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264408" y="2724912"/>
            <a:ext cx="2615184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A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Connects thousands of GPU servers together at 400 Gb/s. GPT-4 was trained across more than 25,000 GPUs connected this way — the CM’s inter-rack network, scaled to a warehouse.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3172968" y="4279392"/>
            <a:ext cx="2798064" cy="566928"/>
          </a:xfrm>
          <a:prstGeom prst="rect">
            <a:avLst/>
          </a:prstGeom>
          <a:solidFill>
            <a:srgbClr val="DEDA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3172968" y="4279392"/>
            <a:ext cx="27980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A6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25,000+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3172968" y="4608576"/>
            <a:ext cx="27980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A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GPUs in a single AI training run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6062472" y="2212848"/>
            <a:ext cx="2798064" cy="2633472"/>
          </a:xfrm>
          <a:prstGeom prst="rect">
            <a:avLst/>
          </a:prstGeom>
          <a:solidFill>
            <a:srgbClr val="E8E4D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6062472" y="2212848"/>
            <a:ext cx="2798064" cy="45720"/>
          </a:xfrm>
          <a:prstGeom prst="rect">
            <a:avLst/>
          </a:prstGeom>
          <a:solidFill>
            <a:srgbClr val="A0700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6153912" y="2304288"/>
            <a:ext cx="26151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18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Nvidia Collective Operations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153912" y="2724912"/>
            <a:ext cx="2615184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A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that lets thousands of GPUs combine results — AllReduce, Broadcast, Scatter, AllGather. These are the Connection Machine’s collective operations, reimplemented at global scale.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6062472" y="4279392"/>
            <a:ext cx="2798064" cy="566928"/>
          </a:xfrm>
          <a:prstGeom prst="rect">
            <a:avLst/>
          </a:prstGeom>
          <a:solidFill>
            <a:srgbClr val="DEDA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6062472" y="4279392"/>
            <a:ext cx="27980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A0700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AllReduce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6062472" y="4608576"/>
            <a:ext cx="27980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A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CM’s parallel reduction, at cluster scale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2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B81C3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82296"/>
            <a:ext cx="9144000" cy="475488"/>
          </a:xfrm>
          <a:prstGeom prst="rect">
            <a:avLst/>
          </a:prstGeom>
          <a:solidFill>
            <a:srgbClr val="E8E4D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82296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8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Summary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017520" y="82296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A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Thinking Machines taught us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82880" y="667512"/>
            <a:ext cx="4343400" cy="1719072"/>
          </a:xfrm>
          <a:prstGeom prst="rect">
            <a:avLst/>
          </a:prstGeom>
          <a:solidFill>
            <a:srgbClr val="E8E4D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82880" y="667512"/>
            <a:ext cx="4343400" cy="45720"/>
          </a:xfrm>
          <a:prstGeom prst="rect">
            <a:avLst/>
          </a:prstGeom>
          <a:solidFill>
            <a:srgbClr val="8A12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74320" y="758952"/>
            <a:ext cx="4160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A12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Bet Was Right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1069848"/>
            <a:ext cx="4160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Massive parallelism — thousands of simple processors working together — beats a few fast ones for the most important computing tasks. Modern AI training proves this every day.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36008" y="667512"/>
            <a:ext cx="4343400" cy="1719072"/>
          </a:xfrm>
          <a:prstGeom prst="rect">
            <a:avLst/>
          </a:prstGeom>
          <a:solidFill>
            <a:srgbClr val="E8E4D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636008" y="667512"/>
            <a:ext cx="4343400" cy="45720"/>
          </a:xfrm>
          <a:prstGeom prst="rect">
            <a:avLst/>
          </a:prstGeom>
          <a:solidFill>
            <a:srgbClr val="6070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727448" y="758952"/>
            <a:ext cx="4160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07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Programming Model Endures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727448" y="1069848"/>
            <a:ext cx="4160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Hide complexity from the programmer — write for one, run on many. CM Lisp (1986) → CUDA (2007) → PyTorch (2016). The same idea, rediscovered every decade.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82880" y="2450592"/>
            <a:ext cx="4343400" cy="1719072"/>
          </a:xfrm>
          <a:prstGeom prst="rect">
            <a:avLst/>
          </a:prstGeom>
          <a:solidFill>
            <a:srgbClr val="E8E4D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82880" y="2450592"/>
            <a:ext cx="4343400" cy="45720"/>
          </a:xfrm>
          <a:prstGeom prst="rect">
            <a:avLst/>
          </a:prstGeom>
          <a:solidFill>
            <a:srgbClr val="A0700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74320" y="2542032"/>
            <a:ext cx="4160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0700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Algorithms Still Rule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74320" y="2852928"/>
            <a:ext cx="4160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reduction, prefix scan, gather/scatter — invented on the CM between 1985 and 1987. They are the building blocks of every GPU kernel and every AI training run today.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36008" y="2450592"/>
            <a:ext cx="4343400" cy="1719072"/>
          </a:xfrm>
          <a:prstGeom prst="rect">
            <a:avLst/>
          </a:prstGeom>
          <a:solidFill>
            <a:srgbClr val="E8E4D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636008" y="2450592"/>
            <a:ext cx="4343400" cy="45720"/>
          </a:xfrm>
          <a:prstGeom prst="rect">
            <a:avLst/>
          </a:prstGeom>
          <a:solidFill>
            <a:srgbClr val="2A6B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727448" y="2542032"/>
            <a:ext cx="4160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A6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Vision Scales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727448" y="2852928"/>
            <a:ext cx="4160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AI clusters — tens of thousands of GPU nodes, connected at 400 Gb/s, running NCCL collectives — are the Connection Machine at data warehouse scale. TMC was just 20 years early.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82880" y="4233672"/>
            <a:ext cx="8778240" cy="457200"/>
          </a:xfrm>
          <a:prstGeom prst="rect">
            <a:avLst/>
          </a:prstGeom>
          <a:solidFill>
            <a:srgbClr val="B81C3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20040" y="4233672"/>
            <a:ext cx="8503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Thinking Machines Corporation closed in 1994. It may have been ahead of its time, but its impact is still felt today.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2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B81C3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A18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Think Different, But Dress Alike</a:t>
            </a:r>
            <a:endParaRPr lang="en-US" sz="2400" dirty="0"/>
          </a:p>
        </p:txBody>
      </p:sp>
      <p:pic>
        <p:nvPicPr>
          <p:cNvPr id="4" name="Image 0" descr="/Users/lewtucker/Documents/dev/TMC_Preso/media/Feynman_poster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21305" y="777239"/>
            <a:ext cx="5036695" cy="428119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663440"/>
            <a:ext cx="8503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i="1" dirty="0">
                <a:solidFill>
                  <a:srgbClr val="6A68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—Thanks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1742</Words>
  <Application>Microsoft Macintosh PowerPoint</Application>
  <PresentationFormat>On-screen Show (16:9)</PresentationFormat>
  <Paragraphs>197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Parallel Thinking</dc:title>
  <dc:subject>PptxGenJS Presentation</dc:subject>
  <dc:creator>PptxGenJS</dc:creator>
  <cp:lastModifiedBy>Lew Tucker</cp:lastModifiedBy>
  <cp:revision>4</cp:revision>
  <dcterms:created xsi:type="dcterms:W3CDTF">2026-03-24T05:14:28Z</dcterms:created>
  <dcterms:modified xsi:type="dcterms:W3CDTF">2026-03-24T06:21:03Z</dcterms:modified>
</cp:coreProperties>
</file>